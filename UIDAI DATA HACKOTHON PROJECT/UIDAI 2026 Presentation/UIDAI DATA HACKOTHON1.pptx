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7" r:id="rId9"/>
    <p:sldId id="269" r:id="rId10"/>
    <p:sldId id="268" r:id="rId11"/>
    <p:sldId id="263" r:id="rId12"/>
    <p:sldId id="264" r:id="rId13"/>
    <p:sldId id="265" r:id="rId14"/>
    <p:sldId id="266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15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876BDD-845E-4269-8470-C2EE69EBDC61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2F0D8-5751-423E-8699-3984480C1E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11727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2F0D8-5751-423E-8699-3984480C1E4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6759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2F0D8-5751-423E-8699-3984480C1E4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86989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95998D-8068-EBF5-A9C7-4618632FCB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A5FED1-5397-D3F2-AB7B-CBE4A94806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0D5620-0856-C110-7EBE-0005176307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8AC8F-F96C-4CA6-9CB9-7DB085ED54E4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CEADD1-01F1-371B-1858-1E792F88D3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4E3168-EB6D-80C1-EFD1-E33EB6531A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7B833F-1D24-4099-8948-8C99E6F81D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88169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2126B4-D8A4-DD59-CFBE-0ADCAECEF3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5FE2C7-F88D-E978-B714-9B1A54D5DE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9163B5-5424-26A8-9C28-6BAA76CAE5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8AC8F-F96C-4CA6-9CB9-7DB085ED54E4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F18DB7-CE9A-7075-CAF6-7A397DEA3C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4831F0-A967-9053-49CC-6940BE195C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7B833F-1D24-4099-8948-8C99E6F81D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47247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3CEF6A-DD93-95A3-9C2A-AC2AED2434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CA8C75-EB61-65C1-C98F-8B2C2E2FD0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7A051B-3D98-DFE7-571B-44DFA5FF14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8AC8F-F96C-4CA6-9CB9-7DB085ED54E4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A00E88-A87A-14B4-3D80-55CD55CE92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A47BE9-470E-85D0-42F1-66A9013C7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7B833F-1D24-4099-8948-8C99E6F81D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68156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6E6A21-F67E-7116-ED38-07FFA4DF21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74AF09-AA3B-7AC1-2C6D-C388E16AE02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4C0B23-12D6-F565-2D24-B2C99114BA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1C5AF4-B84B-2A05-F341-77C92E4C15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8AC8F-F96C-4CA6-9CB9-7DB085ED54E4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4D2A97-D826-9236-2D88-A7492D71D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86BBF1-979A-C882-7B51-F34434986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7B833F-1D24-4099-8948-8C99E6F81D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26952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44B2A4-5B94-52CF-0BEC-1C82CFB96E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7C5454-7FA9-9B65-CB95-3A5A229F62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51926C-5B60-3EF5-7032-9788F6C533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123F846-2D89-5710-FC02-E31A6B7CD6F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9479E3C-0F09-A509-0FFD-E57BE0295D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DD9EB44-C54A-8BFC-668A-0DC63AECDD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8AC8F-F96C-4CA6-9CB9-7DB085ED54E4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1AA4092-A75F-F8EC-74A9-CFA233AD7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27E3B15-192E-048E-51BB-32B9B77CA4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7B833F-1D24-4099-8948-8C99E6F81D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488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4683C-CF36-062B-4A3E-810E1DEEE8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71A629-CEDB-DC8B-C128-B933B00717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8AC8F-F96C-4CA6-9CB9-7DB085ED54E4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4932D0-D05F-DEC0-22FB-52B015DA4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A694AF-90C3-9D71-A044-4BF4C7B77E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7B833F-1D24-4099-8948-8C99E6F81D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81729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8FE9B9C-5BF9-ACCB-14D0-B5188C2C47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8AC8F-F96C-4CA6-9CB9-7DB085ED54E4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16A725B-2A79-0A0E-81D1-AFE4ECA2BA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227635-20DE-144F-D231-48D4E2272B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7B833F-1D24-4099-8948-8C99E6F81D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79762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65812-E8EB-56BB-5D2A-CB1471AA5A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E071D6-3655-49B8-F0CE-284FD55BD3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578417-A054-B280-1EB4-0AAF87FD28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E0F2B4-F5D2-0D05-4C5C-762E048FC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8AC8F-F96C-4CA6-9CB9-7DB085ED54E4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47E00E-878D-1EA2-1B3B-B2F6E74172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E6B233-FD46-2834-D61F-1370234848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7B833F-1D24-4099-8948-8C99E6F81D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22060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5D0093-7549-6E94-9CE4-89D0D50479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4CAB287-E10C-FDAB-BF96-60F30FFC0AF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6EBCE2-ABCA-5EB8-A512-C082278530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B167F7-716A-75D8-F8B7-456A32E4A4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8AC8F-F96C-4CA6-9CB9-7DB085ED54E4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8BE5CF-FD31-BC33-4B6A-88FAE00477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8B0816-E130-8976-34F6-B8C7D5B82E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7B833F-1D24-4099-8948-8C99E6F81D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3361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DB1AC-41B0-5C70-ACF8-52E8B90223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6C3DBB-EE9C-4B8A-C486-DE12234695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A541E9-5244-9718-7B9C-8C6D68F164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8AC8F-F96C-4CA6-9CB9-7DB085ED54E4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4DD51C-CAEC-3F86-CDEF-78F55BCFC1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A0C626-CE51-0DFD-F657-150B563E2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7B833F-1D24-4099-8948-8C99E6F81D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94159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B43122-5A79-57B8-7C27-6C6405DDD41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079198-B514-C281-0B41-E010F4248B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1795BB-A84E-DDDB-461B-CE646DA051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8AC8F-F96C-4CA6-9CB9-7DB085ED54E4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8BCE4E-40FE-7EB8-A608-58C03E8949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FE6ACB-0DC5-ED84-ADA0-CEEDF325FD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7B833F-1D24-4099-8948-8C99E6F81D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37833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49C5CCD-CEE8-52F8-B0CE-828E7A4BF5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E00DAF-8DE1-4C00-B4B1-DEE051FB10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83D367-4851-B391-193F-B72382C9AD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78AC8F-F96C-4CA6-9CB9-7DB085ED54E4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7A650E-BD24-6D1B-104E-EFC39F3D45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605C04-8410-72ED-271A-7D7E44A233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7B833F-1D24-4099-8948-8C99E6F81D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6389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0B4E2C41-FCDB-7CB6-9710-3A6B719B1DD5}"/>
              </a:ext>
            </a:extLst>
          </p:cNvPr>
          <p:cNvSpPr/>
          <p:nvPr/>
        </p:nvSpPr>
        <p:spPr>
          <a:xfrm>
            <a:off x="417871" y="108154"/>
            <a:ext cx="11356258" cy="639097"/>
          </a:xfrm>
          <a:prstGeom prst="snip2DiagRect">
            <a:avLst/>
          </a:prstGeom>
          <a:solidFill>
            <a:schemeClr val="accent2">
              <a:lumMod val="40000"/>
              <a:lumOff val="60000"/>
            </a:schemeClr>
          </a:solidFill>
          <a:effectLst>
            <a:softEdge rad="317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CA08ED0-F1AB-1A41-82F0-18F7F4B0A362}"/>
              </a:ext>
            </a:extLst>
          </p:cNvPr>
          <p:cNvSpPr txBox="1"/>
          <p:nvPr/>
        </p:nvSpPr>
        <p:spPr>
          <a:xfrm>
            <a:off x="3298721" y="108154"/>
            <a:ext cx="70349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UIDAI DATA HACKATHON 2026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C7CF136-0A32-C07C-1D99-0DC0A1AD3A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384" r="7994" b="14088"/>
          <a:stretch>
            <a:fillRect/>
          </a:stretch>
        </p:blipFill>
        <p:spPr>
          <a:xfrm>
            <a:off x="5363493" y="899680"/>
            <a:ext cx="1783689" cy="132851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F681FA5-BCF0-5FF5-5D93-72AA0F9E87D4}"/>
              </a:ext>
            </a:extLst>
          </p:cNvPr>
          <p:cNvSpPr txBox="1"/>
          <p:nvPr/>
        </p:nvSpPr>
        <p:spPr>
          <a:xfrm>
            <a:off x="3478157" y="2247221"/>
            <a:ext cx="66761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Aadhaar Service Intelligence System (ASIS)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60922AA-56A3-CC66-F112-DD691654877B}"/>
              </a:ext>
            </a:extLst>
          </p:cNvPr>
          <p:cNvSpPr txBox="1"/>
          <p:nvPr/>
        </p:nvSpPr>
        <p:spPr>
          <a:xfrm>
            <a:off x="3156146" y="2747818"/>
            <a:ext cx="67498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Spatial-Temporal Predictive Framework for Resource Optimization.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601AB56-BD10-079F-774E-39705FCCB8A5}"/>
              </a:ext>
            </a:extLst>
          </p:cNvPr>
          <p:cNvSpPr txBox="1"/>
          <p:nvPr/>
        </p:nvSpPr>
        <p:spPr>
          <a:xfrm>
            <a:off x="5142971" y="3597839"/>
            <a:ext cx="42671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Team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Trivarna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B84AC22-0A0A-C592-BB5B-3AA35DB90F74}"/>
              </a:ext>
            </a:extLst>
          </p:cNvPr>
          <p:cNvSpPr txBox="1"/>
          <p:nvPr/>
        </p:nvSpPr>
        <p:spPr>
          <a:xfrm>
            <a:off x="5363493" y="3974083"/>
            <a:ext cx="30725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Team Lead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POLUSANI ARAVIND RAO</a:t>
            </a: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607B4AA-7540-09E9-6C0A-3BBD95195B96}"/>
              </a:ext>
            </a:extLst>
          </p:cNvPr>
          <p:cNvSpPr txBox="1"/>
          <p:nvPr/>
        </p:nvSpPr>
        <p:spPr>
          <a:xfrm>
            <a:off x="2733367" y="4709453"/>
            <a:ext cx="8597083" cy="147732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Members                                                                              Roll Numbers          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POLUSANI ARAVIND RAO(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                                          22S41A66E5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VEMULA NIKHIL                                                                         23S45A6610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SRIRAMULA 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GUNASHEKAR                                                     22S41A66H2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FC98114-0C0C-3859-94D3-0FEBA69FF6CE}"/>
              </a:ext>
            </a:extLst>
          </p:cNvPr>
          <p:cNvSpPr txBox="1"/>
          <p:nvPr/>
        </p:nvSpPr>
        <p:spPr>
          <a:xfrm>
            <a:off x="4161505" y="3136173"/>
            <a:ext cx="45916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Telangana State Identity Infrastructure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51411333-B1A1-5FFE-856A-15D412E75B3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22" t="34934" r="6597" b="33256"/>
          <a:stretch>
            <a:fillRect/>
          </a:stretch>
        </p:blipFill>
        <p:spPr>
          <a:xfrm>
            <a:off x="8782672" y="1018145"/>
            <a:ext cx="3102060" cy="1094193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A51B8DC0-95A3-9889-FCF7-E92E902E177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261" y="878088"/>
            <a:ext cx="2659460" cy="1599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82629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C28E76-2FB1-652D-E382-94186536F4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Agenda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BCFD3A9-4ABD-D67F-B5C1-2E726CFB00C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476211"/>
            <a:ext cx="6701963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Vision &amp; Context: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Aadhaar as a Digital Public Infrastructure (DPI).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Problem Definition: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Identifying systemic latencies and service gaps.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Technical Architecture: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ASIS "Plumbing" and Data Pipeline.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Methodology: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Mathematical formulation of the Service Stress Index.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Key Performance Indicators: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insights from the Telangana dataset.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Strategic Recommendations: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Proactive resource allocation &amp; scalability.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Conclusion &amp; Future Roadmap.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61377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A5BD7-C361-318F-2817-6A99372038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Core Challenge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C51285-96AE-095E-0694-222F3746C3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775872"/>
          </a:xfrm>
        </p:spPr>
        <p:txBody>
          <a:bodyPr>
            <a:normAutofit fontScale="92500" lnSpcReduction="20000"/>
          </a:bodyPr>
          <a:lstStyle/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"Systemic Inefficiency in Aadhaar Service Delivery“</a:t>
            </a:r>
          </a:p>
          <a:p>
            <a:pPr marL="0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Spatial Imbalance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50% of the load is concentrated in 10% of districts (e.g., </a:t>
            </a: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Hyderabad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</a:t>
            </a: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K.V. </a:t>
            </a:r>
            <a:r>
              <a:rPr lang="en-US" sz="17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Rangareddy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0" indent="0"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Temporal Latency: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Static staffing models fail during predictable surges (e.g., </a:t>
            </a: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Friday Peak Load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0" indent="0"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Infrastructure Gaps: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 </a:t>
            </a: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Digital Inclusion Scores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(0.10) in rural sectors like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Jangoan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 wait times, system fatigue, and citizen friction.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05294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C63510-6C01-4A5A-0F9F-0E681B286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ASIS Solution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CA5F813-84C7-88B8-1069-4B1759DB62D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66020" y="1835630"/>
            <a:ext cx="8836742" cy="28161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"Data-Driven Intelligence Layer“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What it is: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 predictive analytical engine that monitors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Service Stress Index ($\sigma$)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How it works: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It processes anonymized enrolment logs to identify precisely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where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when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service bottlenecks will occur.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Technical Edge: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Built on a columnar storage architecture capable of processing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91 Million+ records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 real-time.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15031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45FF82-DB1F-7335-7CA6-8F06BD597B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913750-114F-D4FA-2D3B-D50785B1E4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6691" y="1609315"/>
            <a:ext cx="8482780" cy="3798427"/>
          </a:xfrm>
        </p:spPr>
        <p:txBody>
          <a:bodyPr>
            <a:noAutofit/>
          </a:bodyPr>
          <a:lstStyle/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"From Raw Logs to Actionable Dashboard“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Ingestion: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Secure streaming of anonymized logs from CIDR.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Processing: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Automated cleaning and normalization of demographic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data (Age,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Pincode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Date).</a:t>
            </a:r>
          </a:p>
          <a:p>
            <a:pPr marL="0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Intelligence Tier: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DAX-based modeling of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Growth Momentum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Dependency Indexes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High-fidelity Power BI Dashboard for real-time monitoring.</a:t>
            </a:r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6747885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BE5FFC-A525-F3F0-99A8-91EA5820F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 (The "Science")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2E90582-8079-5F08-9782-7713AD6C230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05348" y="1883803"/>
            <a:ext cx="8453284" cy="33701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Mathematical Validation of Service Load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Service Stress Index: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Current Telangana Index: </a:t>
            </a:r>
            <a:r>
              <a:rPr kumimoji="0" lang="en-US" altLang="en-US" sz="18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1.00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(Indicates system is operating at 100% capacity).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Digital Inclusion Score: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Measures service reach vs. population density.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State Average: </a:t>
            </a:r>
            <a:r>
              <a:rPr kumimoji="0" lang="en-US" altLang="en-US" sz="18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0.17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| Target: </a:t>
            </a:r>
            <a:r>
              <a:rPr kumimoji="0" lang="en-US" altLang="en-US" sz="18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0.25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02F8FE7-368A-FF6B-9534-FF535949B8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5788" y="2585884"/>
            <a:ext cx="4495869" cy="982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7756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32904E-BD12-89C1-EC9D-DB5FBBBE2F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Performance Indicators (KPIs)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02869C0-67D8-2254-A32A-13394D9BEC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2050320"/>
              </p:ext>
            </p:extLst>
          </p:nvPr>
        </p:nvGraphicFramePr>
        <p:xfrm>
          <a:off x="1150374" y="1690688"/>
          <a:ext cx="9753600" cy="37095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96492">
                  <a:extLst>
                    <a:ext uri="{9D8B030D-6E8A-4147-A177-3AD203B41FA5}">
                      <a16:colId xmlns:a16="http://schemas.microsoft.com/office/drawing/2014/main" val="2825229254"/>
                    </a:ext>
                  </a:extLst>
                </a:gridCol>
                <a:gridCol w="3396492">
                  <a:extLst>
                    <a:ext uri="{9D8B030D-6E8A-4147-A177-3AD203B41FA5}">
                      <a16:colId xmlns:a16="http://schemas.microsoft.com/office/drawing/2014/main" val="1899018299"/>
                    </a:ext>
                  </a:extLst>
                </a:gridCol>
                <a:gridCol w="2960616">
                  <a:extLst>
                    <a:ext uri="{9D8B030D-6E8A-4147-A177-3AD203B41FA5}">
                      <a16:colId xmlns:a16="http://schemas.microsoft.com/office/drawing/2014/main" val="1773977173"/>
                    </a:ext>
                  </a:extLst>
                </a:gridCol>
              </a:tblGrid>
              <a:tr h="4152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Metric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Value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Insight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6831683"/>
                  </a:ext>
                </a:extLst>
              </a:tr>
              <a:tr h="7167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 Daily Demand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826K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Significant state-wide throughput.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19366036"/>
                  </a:ext>
                </a:extLst>
              </a:tr>
              <a:tr h="7167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Youth Aadhaar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122K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14.78% of total load; priority for schools.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29569861"/>
                  </a:ext>
                </a:extLst>
              </a:tr>
              <a:tr h="7167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Peak Load Day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Friday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Critical day for maximum resource deployment.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63941390"/>
                  </a:ext>
                </a:extLst>
              </a:tr>
              <a:tr h="7288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Dependency Index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52,603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 citizen reliance on digital identity.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67668951"/>
                  </a:ext>
                </a:extLst>
              </a:tr>
              <a:tr h="415246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94441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072885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A61CC8B-6CCF-B71A-2B29-C2279595C4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561" y="157316"/>
            <a:ext cx="11762307" cy="6528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47381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956472D-9D40-E623-D246-1CCA8455D5F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982" y="109459"/>
            <a:ext cx="11779000" cy="6605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83407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1406F3E-080C-8E98-716E-BAA2717DBCF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982" y="124628"/>
            <a:ext cx="11911576" cy="6649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94413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7B40C2-D2FA-F13E-DEA4-814AE4F1E7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Spatial &amp; Temporal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7D70C7-CA55-F958-5874-55B2CFBA1C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400071" cy="2952852"/>
          </a:xfrm>
        </p:spPr>
        <p:txBody>
          <a:bodyPr>
            <a:normAutofit/>
          </a:bodyPr>
          <a:lstStyle/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"Where and When the System Breaks“</a:t>
            </a:r>
          </a:p>
          <a:p>
            <a:pPr marL="0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Temporal Trend: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Demand starts high on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Friday (&gt;0.2M)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tapers off toward the weekend.</a:t>
            </a:r>
          </a:p>
          <a:p>
            <a:pPr marL="0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Spatial Hotspots: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*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Hyderabad: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111,632 (Highest Load)</a:t>
            </a:r>
          </a:p>
          <a:p>
            <a:pPr lvl="1"/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K.V. </a:t>
            </a:r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Rangareddy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98,883</a:t>
            </a:r>
          </a:p>
          <a:p>
            <a:pPr marL="457200" lvl="1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Actionable Insight: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Proposing a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15% staff reallocation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from midweek to Fridays in Urban Clusters.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91294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5FE7A-1570-B266-9A1A-E0322A025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Real-World Impact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883D26C-7ACE-BDF1-A755-5C036EDB1EE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66019" y="1924693"/>
            <a:ext cx="8689258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Citizen Centric: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Reduces average wait times by predicting and managing queues before they form.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Resource Efficiency: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Prevents over-staffing in rural districts and under-staffing in urban hubs.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Scalability: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framework is "Plug-and-Play" for any state or the entire Pan-India CIDR repository.</a:t>
            </a:r>
          </a:p>
        </p:txBody>
      </p:sp>
    </p:spTree>
    <p:extLst>
      <p:ext uri="{BB962C8B-B14F-4D97-AF65-F5344CB8AC3E}">
        <p14:creationId xmlns:p14="http://schemas.microsoft.com/office/powerpoint/2010/main" val="36698862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C55580-5734-7BC5-0E9B-0B931C39F8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&amp; Roadmap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42F408-6ECD-2926-8409-F4D2A07436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ASIS transforms Aadhaar from a static record system into a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service ecosystem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It ensures that the "Digital Identity" promise is matched by "Operational Excellence.“</a:t>
            </a:r>
          </a:p>
          <a:p>
            <a:pPr marL="0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Roadmap: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1: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Real-time API integration with State Data Portals.</a:t>
            </a: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2: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AI-driven predictive staffing alerts for District Collectors.</a:t>
            </a: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3: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Dynamic appointment re-routing for citizens via the Aadhaar App.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63992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10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569ECF-71FC-58D7-93B7-BE84DCF73F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1009671" cy="331214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7B3368-2CD7-7156-29E6-32B288D979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2675245"/>
            <a:ext cx="10637275" cy="150751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Aadhaar Service Intelligence System (ASIS)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buNone/>
            </a:pP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Building a Resilient Digital Public Infrastructure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6463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197</TotalTime>
  <Words>647</Words>
  <Application>Microsoft Office PowerPoint</Application>
  <PresentationFormat>Widescreen</PresentationFormat>
  <Paragraphs>109</Paragraphs>
  <Slides>14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Times New Roman</vt:lpstr>
      <vt:lpstr>Office Theme</vt:lpstr>
      <vt:lpstr>PowerPoint Presentation</vt:lpstr>
      <vt:lpstr>Agenda</vt:lpstr>
      <vt:lpstr>The Core Challenge </vt:lpstr>
      <vt:lpstr>The ASIS Solution</vt:lpstr>
      <vt:lpstr>System Architecture</vt:lpstr>
      <vt:lpstr>Methodology (The "Science")</vt:lpstr>
      <vt:lpstr>Key Performance Indicators (KPIs)</vt:lpstr>
      <vt:lpstr>PowerPoint Presentation</vt:lpstr>
      <vt:lpstr>PowerPoint Presentation</vt:lpstr>
      <vt:lpstr>PowerPoint Presentation</vt:lpstr>
      <vt:lpstr>Spatial &amp; Temporal Insights</vt:lpstr>
      <vt:lpstr>Real-World Impact</vt:lpstr>
      <vt:lpstr>Conclusion &amp; Roadmap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Nikhil Vemula</dc:creator>
  <cp:lastModifiedBy>Nikhil Vemula</cp:lastModifiedBy>
  <cp:revision>6</cp:revision>
  <dcterms:created xsi:type="dcterms:W3CDTF">2026-01-17T07:45:31Z</dcterms:created>
  <dcterms:modified xsi:type="dcterms:W3CDTF">2026-01-17T17:04:39Z</dcterms:modified>
</cp:coreProperties>
</file>